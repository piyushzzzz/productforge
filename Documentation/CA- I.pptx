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4"/>
  </p:notesMasterIdLst>
  <p:sldIdLst>
    <p:sldId id="281" r:id="rId2"/>
    <p:sldId id="313" r:id="rId3"/>
    <p:sldId id="315" r:id="rId4"/>
    <p:sldId id="316" r:id="rId5"/>
    <p:sldId id="317" r:id="rId6"/>
    <p:sldId id="319" r:id="rId7"/>
    <p:sldId id="318" r:id="rId8"/>
    <p:sldId id="320" r:id="rId9"/>
    <p:sldId id="321" r:id="rId10"/>
    <p:sldId id="322" r:id="rId11"/>
    <p:sldId id="324" r:id="rId12"/>
    <p:sldId id="314" r:id="rId13"/>
  </p:sldIdLst>
  <p:sldSz cx="9144000" cy="6858000" type="screen4x3"/>
  <p:notesSz cx="9144000" cy="6858000"/>
  <p:defaultTextStyle>
    <a:defPPr>
      <a:defRPr lang="en-US"/>
    </a:defPPr>
    <a:lvl1pPr algn="l" rtl="0" fontAlgn="base">
      <a:spcBef>
        <a:spcPct val="0"/>
      </a:spcBef>
      <a:spcAft>
        <a:spcPct val="0"/>
      </a:spcAft>
      <a:defRPr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161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BEBC1FE-0D27-420D-ACF3-3E7C33926969}" type="datetimeFigureOut">
              <a:rPr lang="en-IN" smtClean="0"/>
              <a:t>28-07-2026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0922932-FB73-4B31-94D5-4A7F88516CBD}" type="slidenum">
              <a:rPr lang="en-IN" smtClean="0"/>
              <a:t>‹#›</a:t>
            </a:fld>
            <a:endParaRPr lang="en-IN"/>
          </a:p>
        </p:txBody>
      </p:sp>
    </p:spTree>
    <p:extLst>
      <p:ext uri="{BB962C8B-B14F-4D97-AF65-F5344CB8AC3E}">
        <p14:creationId xmlns:p14="http://schemas.microsoft.com/office/powerpoint/2010/main" val="1077744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lvl1pPr>
              <a:defRPr/>
            </a:lvl1pPr>
          </a:lstStyle>
          <a:p>
            <a:endParaRPr lang="en-IN"/>
          </a:p>
        </p:txBody>
      </p:sp>
      <p:sp>
        <p:nvSpPr>
          <p:cNvPr id="6"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spTree>
    <p:extLst>
      <p:ext uri="{BB962C8B-B14F-4D97-AF65-F5344CB8AC3E}">
        <p14:creationId xmlns:p14="http://schemas.microsoft.com/office/powerpoint/2010/main" val="1475965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07541" cy="838200"/>
          </a:xfrm>
        </p:spPr>
        <p:txBody>
          <a:bodyPr/>
          <a:lstStyle/>
          <a:p>
            <a:r>
              <a:rPr lang="en-US"/>
              <a:t>Click to edit Master title style</a:t>
            </a:r>
            <a:endParaRPr lang="en-US" dirty="0"/>
          </a:p>
        </p:txBody>
      </p:sp>
      <p:sp>
        <p:nvSpPr>
          <p:cNvPr id="3" name="Content Placeholder 2"/>
          <p:cNvSpPr>
            <a:spLocks noGrp="1"/>
          </p:cNvSpPr>
          <p:nvPr>
            <p:ph idx="1"/>
          </p:nvPr>
        </p:nvSpPr>
        <p:spPr>
          <a:xfrm>
            <a:off x="457200" y="1374784"/>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p:txBody>
          <a:bodyPr/>
          <a:lstStyle>
            <a:lvl1pPr>
              <a:defRPr/>
            </a:lvl1pPr>
          </a:lstStyle>
          <a:p>
            <a:fld id="{1D8BD707-D9CF-40AE-B4C6-C98DA3205C09}" type="datetimeFigureOut">
              <a:rPr lang="en-US" smtClean="0"/>
              <a:pPr/>
              <a:t>7/28/2026</a:t>
            </a:fld>
            <a:endParaRPr lang="en-US"/>
          </a:p>
        </p:txBody>
      </p:sp>
      <p:sp>
        <p:nvSpPr>
          <p:cNvPr id="11" name="Footer Placeholder 4"/>
          <p:cNvSpPr>
            <a:spLocks noGrp="1"/>
          </p:cNvSpPr>
          <p:nvPr>
            <p:ph type="ftr" sz="quarter" idx="11"/>
          </p:nvPr>
        </p:nvSpPr>
        <p:spPr/>
        <p:txBody>
          <a:bodyPr/>
          <a:lstStyle>
            <a:lvl1pPr>
              <a:defRPr/>
            </a:lvl1pPr>
          </a:lstStyle>
          <a:p>
            <a:endParaRPr lang="en-IN"/>
          </a:p>
        </p:txBody>
      </p:sp>
      <p:sp>
        <p:nvSpPr>
          <p:cNvPr id="12"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spTree>
    <p:extLst>
      <p:ext uri="{BB962C8B-B14F-4D97-AF65-F5344CB8AC3E}">
        <p14:creationId xmlns:p14="http://schemas.microsoft.com/office/powerpoint/2010/main" val="5279292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fld id="{1D8BD707-D9CF-40AE-B4C6-C98DA3205C09}" type="datetimeFigureOut">
              <a:rPr lang="en-US" smtClean="0"/>
              <a:pPr/>
              <a:t>7/28/2026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ea typeface="ＭＳ Ｐゴシック" charset="-128"/>
                <a:cs typeface="+mn-cs"/>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marL="38100">
              <a:lnSpc>
                <a:spcPts val="1630"/>
              </a:lnSpc>
            </a:pPr>
            <a:fld id="{81D60167-4931-47E6-BA6A-407CBD079E47}" type="slidenum">
              <a:rPr lang="en-IN" smtClean="0"/>
              <a:pPr marL="38100">
                <a:lnSpc>
                  <a:spcPts val="1630"/>
                </a:lnSpc>
              </a:pPr>
              <a:t>‹#›</a:t>
            </a:fld>
            <a:endParaRPr lang="en-IN" dirty="0"/>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4"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7" name="Picture 6">
            <a:extLst>
              <a:ext uri="{FF2B5EF4-FFF2-40B4-BE49-F238E27FC236}">
                <a16:creationId xmlns:a16="http://schemas.microsoft.com/office/drawing/2014/main" id="{E6596227-011B-00F5-F390-BFE1CBC5D68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94475" y="220084"/>
            <a:ext cx="1974850" cy="846137"/>
          </a:xfrm>
          <a:prstGeom prst="rect">
            <a:avLst/>
          </a:prstGeom>
        </p:spPr>
      </p:pic>
    </p:spTree>
    <p:extLst>
      <p:ext uri="{BB962C8B-B14F-4D97-AF65-F5344CB8AC3E}">
        <p14:creationId xmlns:p14="http://schemas.microsoft.com/office/powerpoint/2010/main" val="2688698933"/>
      </p:ext>
    </p:extLst>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372E63F-589D-8B42-99FD-D388EA2B82A4}"/>
              </a:ext>
            </a:extLst>
          </p:cNvPr>
          <p:cNvSpPr txBox="1"/>
          <p:nvPr/>
        </p:nvSpPr>
        <p:spPr>
          <a:xfrm>
            <a:off x="381000" y="925110"/>
            <a:ext cx="8229600" cy="5077030"/>
          </a:xfrm>
          <a:prstGeom prst="rect">
            <a:avLst/>
          </a:prstGeom>
        </p:spPr>
        <p:txBody>
          <a:bodyPr vert="horz" wrap="square" lIns="0" tIns="52069" rIns="0" bIns="0" rtlCol="0">
            <a:spAutoFit/>
          </a:bodyPr>
          <a:lstStyle/>
          <a:p>
            <a:pPr marR="8255" algn="ctr">
              <a:lnSpc>
                <a:spcPct val="100000"/>
              </a:lnSpc>
              <a:spcBef>
                <a:spcPts val="330"/>
              </a:spcBef>
            </a:pPr>
            <a:endParaRPr lang="en-IN" sz="3200" b="1" dirty="0">
              <a:latin typeface="Times New Roman" panose="02020603050405020304" pitchFamily="18" charset="0"/>
              <a:cs typeface="Times New Roman" panose="02020603050405020304" pitchFamily="18" charset="0"/>
            </a:endParaRPr>
          </a:p>
          <a:p>
            <a:pPr marR="8255" algn="ctr">
              <a:lnSpc>
                <a:spcPct val="100000"/>
              </a:lnSpc>
              <a:spcBef>
                <a:spcPts val="330"/>
              </a:spcBef>
            </a:pPr>
            <a:r>
              <a:rPr lang="en-US" sz="4400" dirty="0">
                <a:latin typeface="Times New Roman" panose="02020603050405020304" pitchFamily="18" charset="0"/>
                <a:cs typeface="Times New Roman" panose="02020603050405020304" pitchFamily="18" charset="0"/>
              </a:rPr>
              <a:t>ProductForge</a:t>
            </a:r>
            <a:endParaRPr lang="en-IN" sz="4400" b="1" i="1" dirty="0">
              <a:latin typeface="Times New Roman" panose="02020603050405020304" pitchFamily="18" charset="0"/>
              <a:cs typeface="Times New Roman" panose="02020603050405020304" pitchFamily="18" charset="0"/>
            </a:endParaRPr>
          </a:p>
          <a:p>
            <a:pPr marR="8255" algn="ctr">
              <a:lnSpc>
                <a:spcPct val="100000"/>
              </a:lnSpc>
              <a:spcBef>
                <a:spcPts val="330"/>
              </a:spcBef>
            </a:pPr>
            <a:r>
              <a:rPr lang="en-IN" sz="2800" i="1" dirty="0">
                <a:latin typeface="Times New Roman" panose="02020603050405020304" pitchFamily="18" charset="0"/>
                <a:cs typeface="Times New Roman" panose="02020603050405020304" pitchFamily="18" charset="0"/>
              </a:rPr>
              <a:t>(Course Code: 25CS022)</a:t>
            </a:r>
          </a:p>
          <a:p>
            <a:pPr marR="8255" algn="ctr">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b="1" dirty="0">
              <a:latin typeface="Times New Roman" panose="02020603050405020304" pitchFamily="18" charset="0"/>
              <a:cs typeface="Times New Roman" panose="02020603050405020304" pitchFamily="18" charset="0"/>
            </a:endParaRPr>
          </a:p>
          <a:p>
            <a:pPr marR="8255">
              <a:lnSpc>
                <a:spcPct val="100000"/>
              </a:lnSpc>
              <a:spcBef>
                <a:spcPts val="330"/>
              </a:spcBef>
            </a:pPr>
            <a:r>
              <a:rPr lang="en-IN" b="1" dirty="0">
                <a:latin typeface="Times New Roman" panose="02020603050405020304" pitchFamily="18" charset="0"/>
                <a:cs typeface="Times New Roman" panose="02020603050405020304" pitchFamily="18" charset="0"/>
              </a:rPr>
              <a:t>Presented By:</a:t>
            </a:r>
          </a:p>
          <a:p>
            <a:pPr marL="514350" marR="8255" indent="-514350">
              <a:lnSpc>
                <a:spcPct val="100000"/>
              </a:lnSpc>
              <a:spcBef>
                <a:spcPts val="330"/>
              </a:spcBef>
              <a:buAutoNum type="arabicPeriod"/>
            </a:pPr>
            <a:r>
              <a:rPr lang="en-IN" dirty="0">
                <a:latin typeface="Times New Roman" panose="02020603050405020304" pitchFamily="18" charset="0"/>
                <a:cs typeface="Times New Roman" panose="02020603050405020304" pitchFamily="18" charset="0"/>
              </a:rPr>
              <a:t>Piyush Kumar (2411981413)</a:t>
            </a:r>
          </a:p>
          <a:p>
            <a:pPr marL="514350" marR="8255" indent="-514350">
              <a:lnSpc>
                <a:spcPct val="100000"/>
              </a:lnSpc>
              <a:spcBef>
                <a:spcPts val="330"/>
              </a:spcBef>
              <a:buAutoNum type="arabicPeriod"/>
            </a:pPr>
            <a:r>
              <a:rPr lang="en-IN" dirty="0">
                <a:latin typeface="Times New Roman" panose="02020603050405020304" pitchFamily="18" charset="0"/>
                <a:cs typeface="Times New Roman" panose="02020603050405020304" pitchFamily="18" charset="0"/>
              </a:rPr>
              <a:t>Pramod Kumar(2411981420)</a:t>
            </a:r>
          </a:p>
        </p:txBody>
      </p:sp>
      <p:sp>
        <p:nvSpPr>
          <p:cNvPr id="6" name="object 4">
            <a:extLst>
              <a:ext uri="{FF2B5EF4-FFF2-40B4-BE49-F238E27FC236}">
                <a16:creationId xmlns:a16="http://schemas.microsoft.com/office/drawing/2014/main" id="{E4690CBE-8CEE-F5EE-CA89-DCBB31B742DE}"/>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a:t>
            </a:fld>
            <a:endParaRPr dirty="0"/>
          </a:p>
        </p:txBody>
      </p:sp>
    </p:spTree>
    <p:extLst>
      <p:ext uri="{BB962C8B-B14F-4D97-AF65-F5344CB8AC3E}">
        <p14:creationId xmlns:p14="http://schemas.microsoft.com/office/powerpoint/2010/main" val="1366104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E5E98-559D-0B30-1BB5-3C3416B3C887}"/>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Index</a:t>
            </a:r>
            <a:endParaRPr lang="en-IN"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700A92-C317-8104-6A6E-8031D6C9094F}"/>
              </a:ext>
            </a:extLst>
          </p:cNvPr>
          <p:cNvSpPr>
            <a:spLocks noGrp="1"/>
          </p:cNvSpPr>
          <p:nvPr>
            <p:ph idx="1"/>
          </p:nvPr>
        </p:nvSpPr>
        <p:spPr>
          <a:xfrm>
            <a:off x="304800" y="838200"/>
            <a:ext cx="8610600" cy="5867400"/>
          </a:xfrm>
        </p:spPr>
        <p:txBody>
          <a:bodyPr/>
          <a:lstStyle/>
          <a:p>
            <a:r>
              <a:rPr lang="en-IN" b="1" dirty="0">
                <a:latin typeface="Times New Roman" panose="02020603050405020304" pitchFamily="18" charset="0"/>
                <a:cs typeface="Times New Roman" panose="02020603050405020304" pitchFamily="18" charset="0"/>
              </a:rPr>
              <a:t>Introduction</a:t>
            </a:r>
          </a:p>
          <a:p>
            <a:r>
              <a:rPr lang="en-IN" b="1" dirty="0">
                <a:latin typeface="Times New Roman" panose="02020603050405020304" pitchFamily="18" charset="0"/>
                <a:cs typeface="Times New Roman" panose="02020603050405020304" pitchFamily="18" charset="0"/>
              </a:rPr>
              <a:t>Project Description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System Architecture &amp; Design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Database Design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Data Flow Diagrams (DFD)</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Features Implemented</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Screenshots</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Challenges Faced</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Pending Tasks</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813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B0AA6-0F7A-B012-0F6E-D5D0F5F37A0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EE802F24-35B3-990F-D126-17463CD52601}"/>
              </a:ext>
            </a:extLst>
          </p:cNvPr>
          <p:cNvSpPr>
            <a:spLocks noGrp="1"/>
          </p:cNvSpPr>
          <p:nvPr>
            <p:ph idx="1"/>
          </p:nvPr>
        </p:nvSpPr>
        <p:spPr/>
        <p:txBody>
          <a:bodyPr/>
          <a:lstStyle/>
          <a:p>
            <a:pPr marL="0" indent="0">
              <a:buNone/>
            </a:pPr>
            <a:r>
              <a:rPr lang="en-US" sz="1800" b="1" dirty="0">
                <a:latin typeface="Times New Roman" panose="02020603050405020304" pitchFamily="18" charset="0"/>
                <a:cs typeface="Times New Roman" panose="02020603050405020304" pitchFamily="18" charset="0"/>
              </a:rPr>
              <a:t>ProductForge: Cloud-Based Digital Product Marketplace and Lifecycle Management Platform</a:t>
            </a:r>
          </a:p>
          <a:p>
            <a:r>
              <a:rPr lang="en-US" sz="1600" dirty="0">
                <a:latin typeface="Times New Roman" panose="02020603050405020304" pitchFamily="18" charset="0"/>
                <a:cs typeface="Times New Roman" panose="02020603050405020304" pitchFamily="18" charset="0"/>
              </a:rPr>
              <a:t>ProductForge is a cloud-based full-stack platform designed to provide a centralized ecosystem for publishing, distributing, selling, updating, and managing software-based digital products.</a:t>
            </a:r>
          </a:p>
          <a:p>
            <a:pPr marL="0" indent="0">
              <a:buNone/>
            </a:pPr>
            <a:r>
              <a:rPr lang="en-US" sz="1600" b="1" dirty="0">
                <a:latin typeface="Times New Roman" panose="02020603050405020304" pitchFamily="18" charset="0"/>
                <a:cs typeface="Times New Roman" panose="02020603050405020304" pitchFamily="18" charset="0"/>
              </a:rPr>
              <a:t>Problems</a:t>
            </a:r>
          </a:p>
          <a:p>
            <a:r>
              <a:rPr lang="en-US" sz="1600" dirty="0">
                <a:latin typeface="Times New Roman" panose="02020603050405020304" pitchFamily="18" charset="0"/>
                <a:cs typeface="Times New Roman" panose="02020603050405020304" pitchFamily="18" charset="0"/>
              </a:rPr>
              <a:t>Digital creators often depend on different platforms for product publishing, payments, file distribution, version management, customer access, and analytics. ProductForge integrates these activities around a single digital product lifecycle.</a:t>
            </a:r>
          </a:p>
          <a:p>
            <a:pPr marL="0" indent="0">
              <a:buNone/>
            </a:pPr>
            <a:r>
              <a:rPr lang="en-US" sz="1600" b="1" dirty="0">
                <a:latin typeface="Times New Roman" panose="02020603050405020304" pitchFamily="18" charset="0"/>
                <a:cs typeface="Times New Roman" panose="02020603050405020304" pitchFamily="18" charset="0"/>
              </a:rPr>
              <a:t>Objectives</a:t>
            </a:r>
          </a:p>
          <a:p>
            <a:r>
              <a:rPr lang="en-US" sz="1600" dirty="0">
                <a:latin typeface="Times New Roman" panose="02020603050405020304" pitchFamily="18" charset="0"/>
                <a:cs typeface="Times New Roman" panose="02020603050405020304" pitchFamily="18" charset="0"/>
              </a:rPr>
              <a:t>The objective is to provide creators with one platform for managing digital products from initial publication through releases, commercialization, customer access, updates, and lifecycle tracking.</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215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AD403-0D63-EAA4-971D-FE6AE409BC2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Project Description</a:t>
            </a:r>
            <a:endParaRPr lang="en-US" dirty="0"/>
          </a:p>
        </p:txBody>
      </p:sp>
      <p:sp>
        <p:nvSpPr>
          <p:cNvPr id="3" name="Content Placeholder 2">
            <a:extLst>
              <a:ext uri="{FF2B5EF4-FFF2-40B4-BE49-F238E27FC236}">
                <a16:creationId xmlns:a16="http://schemas.microsoft.com/office/drawing/2014/main" id="{0A2A6709-00BF-AEF8-EB2E-947464DF6070}"/>
              </a:ext>
            </a:extLst>
          </p:cNvPr>
          <p:cNvSpPr>
            <a:spLocks noGrp="1"/>
          </p:cNvSpPr>
          <p:nvPr>
            <p:ph idx="1"/>
          </p:nvPr>
        </p:nvSpPr>
        <p:spPr>
          <a:xfrm>
            <a:off x="457200" y="1374784"/>
            <a:ext cx="8229600" cy="4797416"/>
          </a:xfrm>
        </p:spPr>
        <p:txBody>
          <a:bodyPr/>
          <a:lstStyle/>
          <a:p>
            <a:r>
              <a:rPr lang="en-US" sz="1600" b="1" dirty="0">
                <a:latin typeface="Times New Roman" panose="02020603050405020304" pitchFamily="18" charset="0"/>
                <a:cs typeface="Times New Roman" panose="02020603050405020304" pitchFamily="18" charset="0"/>
              </a:rPr>
              <a:t>Creator:</a:t>
            </a:r>
            <a:r>
              <a:rPr lang="en-US" sz="1600" dirty="0">
                <a:latin typeface="Times New Roman" panose="02020603050405020304" pitchFamily="18" charset="0"/>
                <a:cs typeface="Times New Roman" panose="02020603050405020304" pitchFamily="18" charset="0"/>
              </a:rPr>
              <a:t> Creates products, sets pricing, uploads releases, manages versions, and views performance.</a:t>
            </a:r>
          </a:p>
          <a:p>
            <a:r>
              <a:rPr lang="en-US" sz="1600" b="1" dirty="0">
                <a:latin typeface="Times New Roman" panose="02020603050405020304" pitchFamily="18" charset="0"/>
                <a:cs typeface="Times New Roman" panose="02020603050405020304" pitchFamily="18" charset="0"/>
              </a:rPr>
              <a:t>Customer:</a:t>
            </a:r>
            <a:r>
              <a:rPr lang="en-US" sz="1600" dirty="0">
                <a:latin typeface="Times New Roman" panose="02020603050405020304" pitchFamily="18" charset="0"/>
                <a:cs typeface="Times New Roman" panose="02020603050405020304" pitchFamily="18" charset="0"/>
              </a:rPr>
              <a:t> Discovers, purchases/subscribes, accesses products, receives updates, and reviews products.</a:t>
            </a:r>
          </a:p>
          <a:p>
            <a:r>
              <a:rPr lang="en-US" sz="1600" b="1" dirty="0">
                <a:latin typeface="Times New Roman" panose="02020603050405020304" pitchFamily="18" charset="0"/>
                <a:cs typeface="Times New Roman" panose="02020603050405020304" pitchFamily="18" charset="0"/>
              </a:rPr>
              <a:t>Admin:</a:t>
            </a:r>
            <a:r>
              <a:rPr lang="en-US" sz="1600" dirty="0">
                <a:latin typeface="Times New Roman" panose="02020603050405020304" pitchFamily="18" charset="0"/>
                <a:cs typeface="Times New Roman" panose="02020603050405020304" pitchFamily="18" charset="0"/>
              </a:rPr>
              <a:t> Manages users, products, categories, reports, and platform operations.</a:t>
            </a:r>
          </a:p>
          <a:p>
            <a:endParaRPr lang="en-US" sz="1600" dirty="0">
              <a:latin typeface="Times New Roman" panose="02020603050405020304" pitchFamily="18" charset="0"/>
              <a:cs typeface="Times New Roman" panose="02020603050405020304" pitchFamily="18" charset="0"/>
            </a:endParaRPr>
          </a:p>
          <a:p>
            <a:r>
              <a:rPr lang="en-US" sz="1600" b="1" dirty="0"/>
              <a:t>The main workflow:</a:t>
            </a:r>
          </a:p>
          <a:p>
            <a:endParaRPr lang="en-US" sz="1600" b="1"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The lifecycle:</a:t>
            </a:r>
          </a:p>
          <a:p>
            <a:endParaRPr lang="en-US" sz="1600" b="1"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Authentication, Marketplace, Product Management, Release Management, Commerce, Entitlement, Analytics, Reviews, Notifications</a:t>
            </a:r>
            <a:endParaRPr lang="en-US" sz="1600" b="1" dirty="0">
              <a:latin typeface="Times New Roman" panose="02020603050405020304" pitchFamily="18" charset="0"/>
              <a:cs typeface="Times New Roman" panose="02020603050405020304" pitchFamily="18" charset="0"/>
            </a:endParaRPr>
          </a:p>
        </p:txBody>
      </p:sp>
      <p:sp>
        <p:nvSpPr>
          <p:cNvPr id="4" name="Flowchart: Process 3">
            <a:extLst>
              <a:ext uri="{FF2B5EF4-FFF2-40B4-BE49-F238E27FC236}">
                <a16:creationId xmlns:a16="http://schemas.microsoft.com/office/drawing/2014/main" id="{1E4AE66F-F43E-8C80-DCF2-7FB708C2A589}"/>
              </a:ext>
            </a:extLst>
          </p:cNvPr>
          <p:cNvSpPr/>
          <p:nvPr/>
        </p:nvSpPr>
        <p:spPr>
          <a:xfrm>
            <a:off x="370217" y="3609010"/>
            <a:ext cx="838200" cy="381000"/>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Create</a:t>
            </a:r>
          </a:p>
        </p:txBody>
      </p:sp>
      <p:cxnSp>
        <p:nvCxnSpPr>
          <p:cNvPr id="6" name="Straight Arrow Connector 5">
            <a:extLst>
              <a:ext uri="{FF2B5EF4-FFF2-40B4-BE49-F238E27FC236}">
                <a16:creationId xmlns:a16="http://schemas.microsoft.com/office/drawing/2014/main" id="{F13E47BB-5EBA-98BC-20AD-5CAD111448E7}"/>
              </a:ext>
            </a:extLst>
          </p:cNvPr>
          <p:cNvCxnSpPr>
            <a:cxnSpLocks/>
            <a:stCxn id="4" idx="3"/>
          </p:cNvCxnSpPr>
          <p:nvPr/>
        </p:nvCxnSpPr>
        <p:spPr>
          <a:xfrm flipV="1">
            <a:off x="1208417" y="3799482"/>
            <a:ext cx="315583" cy="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Flowchart: Process 6">
            <a:extLst>
              <a:ext uri="{FF2B5EF4-FFF2-40B4-BE49-F238E27FC236}">
                <a16:creationId xmlns:a16="http://schemas.microsoft.com/office/drawing/2014/main" id="{DE82134F-8047-A750-A8D3-7570EE99D546}"/>
              </a:ext>
            </a:extLst>
          </p:cNvPr>
          <p:cNvSpPr/>
          <p:nvPr/>
        </p:nvSpPr>
        <p:spPr>
          <a:xfrm>
            <a:off x="1520406" y="3608994"/>
            <a:ext cx="914400" cy="380976"/>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Publish</a:t>
            </a:r>
          </a:p>
        </p:txBody>
      </p:sp>
      <p:cxnSp>
        <p:nvCxnSpPr>
          <p:cNvPr id="9" name="Straight Arrow Connector 8">
            <a:extLst>
              <a:ext uri="{FF2B5EF4-FFF2-40B4-BE49-F238E27FC236}">
                <a16:creationId xmlns:a16="http://schemas.microsoft.com/office/drawing/2014/main" id="{3AFB0C5C-361F-7F6A-2474-128945CE5863}"/>
              </a:ext>
            </a:extLst>
          </p:cNvPr>
          <p:cNvCxnSpPr>
            <a:cxnSpLocks/>
            <a:stCxn id="7" idx="3"/>
          </p:cNvCxnSpPr>
          <p:nvPr/>
        </p:nvCxnSpPr>
        <p:spPr>
          <a:xfrm>
            <a:off x="2434806" y="3799482"/>
            <a:ext cx="258791" cy="10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Flowchart: Process 9">
            <a:extLst>
              <a:ext uri="{FF2B5EF4-FFF2-40B4-BE49-F238E27FC236}">
                <a16:creationId xmlns:a16="http://schemas.microsoft.com/office/drawing/2014/main" id="{64C2CE3C-E540-EEE7-8188-DAC00755055F}"/>
              </a:ext>
            </a:extLst>
          </p:cNvPr>
          <p:cNvSpPr/>
          <p:nvPr/>
        </p:nvSpPr>
        <p:spPr>
          <a:xfrm>
            <a:off x="2687668" y="3608994"/>
            <a:ext cx="990600" cy="380976"/>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Discover</a:t>
            </a:r>
          </a:p>
        </p:txBody>
      </p:sp>
      <p:cxnSp>
        <p:nvCxnSpPr>
          <p:cNvPr id="18" name="Straight Arrow Connector 17">
            <a:extLst>
              <a:ext uri="{FF2B5EF4-FFF2-40B4-BE49-F238E27FC236}">
                <a16:creationId xmlns:a16="http://schemas.microsoft.com/office/drawing/2014/main" id="{72C533F7-A91A-FE33-422A-C2ECD90BDA34}"/>
              </a:ext>
            </a:extLst>
          </p:cNvPr>
          <p:cNvCxnSpPr>
            <a:cxnSpLocks/>
            <a:stCxn id="10" idx="3"/>
          </p:cNvCxnSpPr>
          <p:nvPr/>
        </p:nvCxnSpPr>
        <p:spPr>
          <a:xfrm>
            <a:off x="3678268" y="3799482"/>
            <a:ext cx="315583" cy="105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Flowchart: Process 18">
            <a:extLst>
              <a:ext uri="{FF2B5EF4-FFF2-40B4-BE49-F238E27FC236}">
                <a16:creationId xmlns:a16="http://schemas.microsoft.com/office/drawing/2014/main" id="{CEB0A823-C682-22BB-B82E-2D83A9C80F42}"/>
              </a:ext>
            </a:extLst>
          </p:cNvPr>
          <p:cNvSpPr/>
          <p:nvPr/>
        </p:nvSpPr>
        <p:spPr>
          <a:xfrm>
            <a:off x="3993851" y="3608994"/>
            <a:ext cx="1111730" cy="380976"/>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Purchase</a:t>
            </a:r>
          </a:p>
        </p:txBody>
      </p:sp>
      <p:cxnSp>
        <p:nvCxnSpPr>
          <p:cNvPr id="21" name="Straight Arrow Connector 20">
            <a:extLst>
              <a:ext uri="{FF2B5EF4-FFF2-40B4-BE49-F238E27FC236}">
                <a16:creationId xmlns:a16="http://schemas.microsoft.com/office/drawing/2014/main" id="{6E1ED769-1C9F-5B73-A1F5-57F870B3E473}"/>
              </a:ext>
            </a:extLst>
          </p:cNvPr>
          <p:cNvCxnSpPr>
            <a:cxnSpLocks/>
            <a:stCxn id="19" idx="3"/>
          </p:cNvCxnSpPr>
          <p:nvPr/>
        </p:nvCxnSpPr>
        <p:spPr>
          <a:xfrm>
            <a:off x="5105581" y="3799482"/>
            <a:ext cx="4570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Flowchart: Process 21">
            <a:extLst>
              <a:ext uri="{FF2B5EF4-FFF2-40B4-BE49-F238E27FC236}">
                <a16:creationId xmlns:a16="http://schemas.microsoft.com/office/drawing/2014/main" id="{06AEC827-EDCE-4249-EA92-CEB45BF9025D}"/>
              </a:ext>
            </a:extLst>
          </p:cNvPr>
          <p:cNvSpPr/>
          <p:nvPr/>
        </p:nvSpPr>
        <p:spPr>
          <a:xfrm>
            <a:off x="5551638" y="3619504"/>
            <a:ext cx="838200" cy="380960"/>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Access </a:t>
            </a:r>
          </a:p>
        </p:txBody>
      </p:sp>
      <p:cxnSp>
        <p:nvCxnSpPr>
          <p:cNvPr id="27" name="Straight Arrow Connector 26">
            <a:extLst>
              <a:ext uri="{FF2B5EF4-FFF2-40B4-BE49-F238E27FC236}">
                <a16:creationId xmlns:a16="http://schemas.microsoft.com/office/drawing/2014/main" id="{94343163-50EF-E1C7-A363-B66FBACD1899}"/>
              </a:ext>
            </a:extLst>
          </p:cNvPr>
          <p:cNvCxnSpPr>
            <a:stCxn id="22" idx="3"/>
          </p:cNvCxnSpPr>
          <p:nvPr/>
        </p:nvCxnSpPr>
        <p:spPr>
          <a:xfrm>
            <a:off x="6389838" y="3809984"/>
            <a:ext cx="4474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Flowchart: Process 27">
            <a:extLst>
              <a:ext uri="{FF2B5EF4-FFF2-40B4-BE49-F238E27FC236}">
                <a16:creationId xmlns:a16="http://schemas.microsoft.com/office/drawing/2014/main" id="{FC4CA7BC-1D16-B5F6-1E18-D37C79BF9A55}"/>
              </a:ext>
            </a:extLst>
          </p:cNvPr>
          <p:cNvSpPr/>
          <p:nvPr/>
        </p:nvSpPr>
        <p:spPr>
          <a:xfrm>
            <a:off x="6847667" y="3615914"/>
            <a:ext cx="914400" cy="380960"/>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Update</a:t>
            </a:r>
          </a:p>
        </p:txBody>
      </p:sp>
      <p:cxnSp>
        <p:nvCxnSpPr>
          <p:cNvPr id="34" name="Straight Arrow Connector 33">
            <a:extLst>
              <a:ext uri="{FF2B5EF4-FFF2-40B4-BE49-F238E27FC236}">
                <a16:creationId xmlns:a16="http://schemas.microsoft.com/office/drawing/2014/main" id="{0716026C-BF5D-D3D0-CDFF-21007C5B383C}"/>
              </a:ext>
            </a:extLst>
          </p:cNvPr>
          <p:cNvCxnSpPr>
            <a:stCxn id="28" idx="3"/>
          </p:cNvCxnSpPr>
          <p:nvPr/>
        </p:nvCxnSpPr>
        <p:spPr>
          <a:xfrm>
            <a:off x="7762067" y="3806394"/>
            <a:ext cx="315133" cy="35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Flowchart: Process 34">
            <a:extLst>
              <a:ext uri="{FF2B5EF4-FFF2-40B4-BE49-F238E27FC236}">
                <a16:creationId xmlns:a16="http://schemas.microsoft.com/office/drawing/2014/main" id="{23FFA65E-0751-3A38-0C2A-BF5EE3AC3F82}"/>
              </a:ext>
            </a:extLst>
          </p:cNvPr>
          <p:cNvSpPr/>
          <p:nvPr/>
        </p:nvSpPr>
        <p:spPr>
          <a:xfrm>
            <a:off x="8077199" y="3608994"/>
            <a:ext cx="921589" cy="380960"/>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Analyze</a:t>
            </a:r>
          </a:p>
        </p:txBody>
      </p:sp>
      <p:sp>
        <p:nvSpPr>
          <p:cNvPr id="36" name="Flowchart: Process 35">
            <a:extLst>
              <a:ext uri="{FF2B5EF4-FFF2-40B4-BE49-F238E27FC236}">
                <a16:creationId xmlns:a16="http://schemas.microsoft.com/office/drawing/2014/main" id="{39FCABAD-92A9-F49B-0F0A-60464589AF00}"/>
              </a:ext>
            </a:extLst>
          </p:cNvPr>
          <p:cNvSpPr/>
          <p:nvPr/>
        </p:nvSpPr>
        <p:spPr>
          <a:xfrm>
            <a:off x="523605" y="4800600"/>
            <a:ext cx="914400" cy="380804"/>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Draft</a:t>
            </a:r>
          </a:p>
        </p:txBody>
      </p:sp>
      <p:sp>
        <p:nvSpPr>
          <p:cNvPr id="45" name="Flowchart: Process 44">
            <a:extLst>
              <a:ext uri="{FF2B5EF4-FFF2-40B4-BE49-F238E27FC236}">
                <a16:creationId xmlns:a16="http://schemas.microsoft.com/office/drawing/2014/main" id="{53A651EF-DFD0-C227-BFCC-5A0FDD688302}"/>
              </a:ext>
            </a:extLst>
          </p:cNvPr>
          <p:cNvSpPr/>
          <p:nvPr/>
        </p:nvSpPr>
        <p:spPr>
          <a:xfrm>
            <a:off x="1981200" y="4800600"/>
            <a:ext cx="706468" cy="380804"/>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Beta</a:t>
            </a:r>
          </a:p>
        </p:txBody>
      </p:sp>
      <p:sp>
        <p:nvSpPr>
          <p:cNvPr id="46" name="Flowchart: Process 45">
            <a:extLst>
              <a:ext uri="{FF2B5EF4-FFF2-40B4-BE49-F238E27FC236}">
                <a16:creationId xmlns:a16="http://schemas.microsoft.com/office/drawing/2014/main" id="{559D9586-468A-C3DF-09E4-173964ABDFE7}"/>
              </a:ext>
            </a:extLst>
          </p:cNvPr>
          <p:cNvSpPr/>
          <p:nvPr/>
        </p:nvSpPr>
        <p:spPr>
          <a:xfrm>
            <a:off x="3002800" y="4800600"/>
            <a:ext cx="1111730" cy="380804"/>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Published</a:t>
            </a:r>
          </a:p>
        </p:txBody>
      </p:sp>
      <p:sp>
        <p:nvSpPr>
          <p:cNvPr id="47" name="Flowchart: Process 46">
            <a:extLst>
              <a:ext uri="{FF2B5EF4-FFF2-40B4-BE49-F238E27FC236}">
                <a16:creationId xmlns:a16="http://schemas.microsoft.com/office/drawing/2014/main" id="{80D94312-D5B0-DC3A-D572-257295B0F503}"/>
              </a:ext>
            </a:extLst>
          </p:cNvPr>
          <p:cNvSpPr/>
          <p:nvPr/>
        </p:nvSpPr>
        <p:spPr>
          <a:xfrm>
            <a:off x="4623862" y="4800600"/>
            <a:ext cx="862538" cy="380791"/>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v1.0</a:t>
            </a:r>
          </a:p>
        </p:txBody>
      </p:sp>
      <p:sp>
        <p:nvSpPr>
          <p:cNvPr id="48" name="Flowchart: Process 47">
            <a:extLst>
              <a:ext uri="{FF2B5EF4-FFF2-40B4-BE49-F238E27FC236}">
                <a16:creationId xmlns:a16="http://schemas.microsoft.com/office/drawing/2014/main" id="{00081091-5573-E6E0-1577-7739B29C3144}"/>
              </a:ext>
            </a:extLst>
          </p:cNvPr>
          <p:cNvSpPr/>
          <p:nvPr/>
        </p:nvSpPr>
        <p:spPr>
          <a:xfrm>
            <a:off x="5995732" y="4800600"/>
            <a:ext cx="633667" cy="377201"/>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v1.1</a:t>
            </a:r>
          </a:p>
        </p:txBody>
      </p:sp>
      <p:sp>
        <p:nvSpPr>
          <p:cNvPr id="49" name="Flowchart: Process 48">
            <a:extLst>
              <a:ext uri="{FF2B5EF4-FFF2-40B4-BE49-F238E27FC236}">
                <a16:creationId xmlns:a16="http://schemas.microsoft.com/office/drawing/2014/main" id="{AA98E4C3-4D45-EF39-2985-2538C4AE3794}"/>
              </a:ext>
            </a:extLst>
          </p:cNvPr>
          <p:cNvSpPr/>
          <p:nvPr/>
        </p:nvSpPr>
        <p:spPr>
          <a:xfrm>
            <a:off x="7010401" y="4800600"/>
            <a:ext cx="633666" cy="377201"/>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v2.0</a:t>
            </a:r>
          </a:p>
        </p:txBody>
      </p:sp>
      <p:sp>
        <p:nvSpPr>
          <p:cNvPr id="50" name="Flowchart: Process 49">
            <a:extLst>
              <a:ext uri="{FF2B5EF4-FFF2-40B4-BE49-F238E27FC236}">
                <a16:creationId xmlns:a16="http://schemas.microsoft.com/office/drawing/2014/main" id="{6F65B351-0F89-89E1-E65F-718B0D817232}"/>
              </a:ext>
            </a:extLst>
          </p:cNvPr>
          <p:cNvSpPr/>
          <p:nvPr/>
        </p:nvSpPr>
        <p:spPr>
          <a:xfrm>
            <a:off x="8025068" y="4800600"/>
            <a:ext cx="1042734" cy="377201"/>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Archived</a:t>
            </a:r>
          </a:p>
        </p:txBody>
      </p:sp>
      <p:cxnSp>
        <p:nvCxnSpPr>
          <p:cNvPr id="52" name="Straight Arrow Connector 51">
            <a:extLst>
              <a:ext uri="{FF2B5EF4-FFF2-40B4-BE49-F238E27FC236}">
                <a16:creationId xmlns:a16="http://schemas.microsoft.com/office/drawing/2014/main" id="{F2AC4740-8FD4-8E69-5AAA-FF92DE748442}"/>
              </a:ext>
            </a:extLst>
          </p:cNvPr>
          <p:cNvCxnSpPr>
            <a:cxnSpLocks/>
            <a:stCxn id="36" idx="3"/>
            <a:endCxn id="45" idx="1"/>
          </p:cNvCxnSpPr>
          <p:nvPr/>
        </p:nvCxnSpPr>
        <p:spPr>
          <a:xfrm>
            <a:off x="1438005" y="4991002"/>
            <a:ext cx="5431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97949FA7-CDC8-34A6-198F-7439611A5EA6}"/>
              </a:ext>
            </a:extLst>
          </p:cNvPr>
          <p:cNvCxnSpPr>
            <a:cxnSpLocks/>
            <a:stCxn id="45" idx="3"/>
            <a:endCxn id="46" idx="1"/>
          </p:cNvCxnSpPr>
          <p:nvPr/>
        </p:nvCxnSpPr>
        <p:spPr>
          <a:xfrm>
            <a:off x="2687668" y="4991002"/>
            <a:ext cx="3151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FE19B07-AB76-7BDC-D154-2EA57A00AA72}"/>
              </a:ext>
            </a:extLst>
          </p:cNvPr>
          <p:cNvCxnSpPr>
            <a:cxnSpLocks/>
            <a:stCxn id="46" idx="3"/>
            <a:endCxn id="47" idx="1"/>
          </p:cNvCxnSpPr>
          <p:nvPr/>
        </p:nvCxnSpPr>
        <p:spPr>
          <a:xfrm flipV="1">
            <a:off x="4114530" y="4990996"/>
            <a:ext cx="509332" cy="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42CD15F-A974-9860-B800-447007AE982F}"/>
              </a:ext>
            </a:extLst>
          </p:cNvPr>
          <p:cNvCxnSpPr>
            <a:cxnSpLocks/>
            <a:endCxn id="48" idx="1"/>
          </p:cNvCxnSpPr>
          <p:nvPr/>
        </p:nvCxnSpPr>
        <p:spPr>
          <a:xfrm>
            <a:off x="5486400" y="4989201"/>
            <a:ext cx="5093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4F7EE83-A5C1-B96C-D607-C1DC9DA18184}"/>
              </a:ext>
            </a:extLst>
          </p:cNvPr>
          <p:cNvCxnSpPr>
            <a:cxnSpLocks/>
            <a:stCxn id="48" idx="3"/>
            <a:endCxn id="49" idx="1"/>
          </p:cNvCxnSpPr>
          <p:nvPr/>
        </p:nvCxnSpPr>
        <p:spPr>
          <a:xfrm>
            <a:off x="6629399" y="4989201"/>
            <a:ext cx="3810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0434843-A9F0-CD81-4AB4-CD80AFB7457A}"/>
              </a:ext>
            </a:extLst>
          </p:cNvPr>
          <p:cNvCxnSpPr>
            <a:cxnSpLocks/>
            <a:stCxn id="49" idx="3"/>
            <a:endCxn id="50" idx="1"/>
          </p:cNvCxnSpPr>
          <p:nvPr/>
        </p:nvCxnSpPr>
        <p:spPr>
          <a:xfrm>
            <a:off x="7644067" y="4989201"/>
            <a:ext cx="3810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4683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4A8CF-5FE7-887C-B03F-EDAA6F48C1D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Architecture &amp; Design</a:t>
            </a:r>
            <a:endParaRPr lang="en-US" dirty="0"/>
          </a:p>
        </p:txBody>
      </p:sp>
      <p:pic>
        <p:nvPicPr>
          <p:cNvPr id="5" name="Content Placeholder 4">
            <a:extLst>
              <a:ext uri="{FF2B5EF4-FFF2-40B4-BE49-F238E27FC236}">
                <a16:creationId xmlns:a16="http://schemas.microsoft.com/office/drawing/2014/main" id="{EA9DEE7B-5082-F740-1D3B-DECDF2263A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76200" y="1374775"/>
            <a:ext cx="8763000" cy="4525963"/>
          </a:xfrm>
          <a:prstGeom prst="rect">
            <a:avLst/>
          </a:prstGeom>
          <a:noFill/>
          <a:ln w="9525">
            <a:noFill/>
            <a:miter lim="800000"/>
            <a:headEnd/>
            <a:tailEnd/>
          </a:ln>
        </p:spPr>
      </p:pic>
    </p:spTree>
    <p:extLst>
      <p:ext uri="{BB962C8B-B14F-4D97-AF65-F5344CB8AC3E}">
        <p14:creationId xmlns:p14="http://schemas.microsoft.com/office/powerpoint/2010/main" val="4110389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CABFF-C601-67AD-1675-5AE3460834E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Architecture &amp; Design</a:t>
            </a:r>
            <a:endParaRPr lang="en-US" dirty="0"/>
          </a:p>
        </p:txBody>
      </p:sp>
      <p:sp>
        <p:nvSpPr>
          <p:cNvPr id="3" name="Content Placeholder 2">
            <a:extLst>
              <a:ext uri="{FF2B5EF4-FFF2-40B4-BE49-F238E27FC236}">
                <a16:creationId xmlns:a16="http://schemas.microsoft.com/office/drawing/2014/main" id="{74EC53FD-F989-A88B-610A-77D62944A605}"/>
              </a:ext>
            </a:extLst>
          </p:cNvPr>
          <p:cNvSpPr>
            <a:spLocks noGrp="1"/>
          </p:cNvSpPr>
          <p:nvPr>
            <p:ph idx="1"/>
          </p:nvPr>
        </p:nvSpPr>
        <p:spPr>
          <a:xfrm>
            <a:off x="457200" y="1374784"/>
            <a:ext cx="8229600" cy="5026016"/>
          </a:xfrm>
        </p:spPr>
        <p:txBody>
          <a:bodyPr/>
          <a:lstStyle/>
          <a:p>
            <a:r>
              <a:rPr lang="en-US" sz="2000" b="1" dirty="0">
                <a:latin typeface="Times New Roman" panose="02020603050405020304" pitchFamily="18" charset="0"/>
                <a:cs typeface="Times New Roman" panose="02020603050405020304" pitchFamily="18" charset="0"/>
              </a:rPr>
              <a:t>Frontend:</a:t>
            </a:r>
            <a:r>
              <a:rPr lang="en-US" sz="2000" dirty="0">
                <a:latin typeface="Times New Roman" panose="02020603050405020304" pitchFamily="18" charset="0"/>
                <a:cs typeface="Times New Roman" panose="02020603050405020304" pitchFamily="18" charset="0"/>
              </a:rPr>
              <a:t> React/Next.js interface</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REST API</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Backend:</a:t>
            </a:r>
            <a:r>
              <a:rPr lang="en-US" sz="2000" dirty="0">
                <a:latin typeface="Times New Roman" panose="02020603050405020304" pitchFamily="18" charset="0"/>
                <a:cs typeface="Times New Roman" panose="02020603050405020304" pitchFamily="18" charset="0"/>
              </a:rPr>
              <a:t> Node.js + Express</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PostgreSQL:</a:t>
            </a:r>
            <a:r>
              <a:rPr lang="en-US" sz="2000" dirty="0">
                <a:latin typeface="Times New Roman" panose="02020603050405020304" pitchFamily="18" charset="0"/>
                <a:cs typeface="Times New Roman" panose="02020603050405020304" pitchFamily="18" charset="0"/>
              </a:rPr>
              <a:t> users, products, releases, orders, entitlements, reviews, etc.</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Cloud Storage:</a:t>
            </a:r>
            <a:r>
              <a:rPr lang="en-US" sz="2000" dirty="0">
                <a:latin typeface="Times New Roman" panose="02020603050405020304" pitchFamily="18" charset="0"/>
                <a:cs typeface="Times New Roman" panose="02020603050405020304" pitchFamily="18" charset="0"/>
              </a:rPr>
              <a:t> images, product files, release packages</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Payment Gateway:</a:t>
            </a:r>
            <a:r>
              <a:rPr lang="en-US" sz="2000" dirty="0">
                <a:latin typeface="Times New Roman" panose="02020603050405020304" pitchFamily="18" charset="0"/>
                <a:cs typeface="Times New Roman" panose="02020603050405020304" pitchFamily="18" charset="0"/>
              </a:rPr>
              <a:t> transactions/subscriptions</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Socket.IO:</a:t>
            </a:r>
            <a:r>
              <a:rPr lang="en-US" sz="2000" dirty="0">
                <a:latin typeface="Times New Roman" panose="02020603050405020304" pitchFamily="18" charset="0"/>
                <a:cs typeface="Times New Roman" panose="02020603050405020304" pitchFamily="18" charset="0"/>
              </a:rPr>
              <a:t> real-time events</a:t>
            </a:r>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7678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4095C-9D71-20B0-5FF4-E743D49074DF}"/>
              </a:ext>
            </a:extLst>
          </p:cNvPr>
          <p:cNvSpPr>
            <a:spLocks noGrp="1"/>
          </p:cNvSpPr>
          <p:nvPr>
            <p:ph type="title"/>
          </p:nvPr>
        </p:nvSpPr>
        <p:spPr>
          <a:xfrm>
            <a:off x="0" y="11502"/>
            <a:ext cx="6507541" cy="838200"/>
          </a:xfrm>
        </p:spPr>
        <p:txBody>
          <a:bodyPr/>
          <a:lstStyle/>
          <a:p>
            <a:r>
              <a:rPr lang="en-IN" b="1" dirty="0">
                <a:latin typeface="Times New Roman" panose="02020603050405020304" pitchFamily="18" charset="0"/>
                <a:cs typeface="Times New Roman" panose="02020603050405020304" pitchFamily="18" charset="0"/>
              </a:rPr>
              <a:t>Database Design</a:t>
            </a:r>
            <a:endParaRPr lang="en-US" dirty="0"/>
          </a:p>
        </p:txBody>
      </p:sp>
      <p:pic>
        <p:nvPicPr>
          <p:cNvPr id="5" name="Content Placeholder 4">
            <a:extLst>
              <a:ext uri="{FF2B5EF4-FFF2-40B4-BE49-F238E27FC236}">
                <a16:creationId xmlns:a16="http://schemas.microsoft.com/office/drawing/2014/main" id="{1855A577-2F90-86A2-930E-98165FAC74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385194" y="1374775"/>
            <a:ext cx="6373611" cy="4525963"/>
          </a:xfrm>
          <a:prstGeom prst="rect">
            <a:avLst/>
          </a:prstGeom>
          <a:noFill/>
          <a:ln w="9525">
            <a:noFill/>
            <a:miter lim="800000"/>
            <a:headEnd/>
            <a:tailEnd/>
          </a:ln>
        </p:spPr>
      </p:pic>
    </p:spTree>
    <p:extLst>
      <p:ext uri="{BB962C8B-B14F-4D97-AF65-F5344CB8AC3E}">
        <p14:creationId xmlns:p14="http://schemas.microsoft.com/office/powerpoint/2010/main" val="1298279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60F8-5163-2078-02B8-752CD1A1312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Database Design</a:t>
            </a:r>
            <a:endParaRPr lang="en-US" dirty="0"/>
          </a:p>
        </p:txBody>
      </p:sp>
      <p:sp>
        <p:nvSpPr>
          <p:cNvPr id="3" name="Content Placeholder 2">
            <a:extLst>
              <a:ext uri="{FF2B5EF4-FFF2-40B4-BE49-F238E27FC236}">
                <a16:creationId xmlns:a16="http://schemas.microsoft.com/office/drawing/2014/main" id="{EA28588B-A7EE-5FA7-859B-968A49DDD944}"/>
              </a:ext>
            </a:extLst>
          </p:cNvPr>
          <p:cNvSpPr>
            <a:spLocks noGrp="1"/>
          </p:cNvSpPr>
          <p:nvPr>
            <p:ph idx="1"/>
          </p:nvPr>
        </p:nvSpPr>
        <p:spPr/>
        <p:txBody>
          <a:bodyPr/>
          <a:lstStyle/>
          <a:p>
            <a:r>
              <a:rPr lang="en-US" sz="1800" dirty="0">
                <a:latin typeface="Times New Roman" panose="02020603050405020304" pitchFamily="18" charset="0"/>
                <a:cs typeface="Times New Roman" panose="02020603050405020304" pitchFamily="18" charset="0"/>
              </a:rPr>
              <a:t>Creator 1:N Products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Product 1:N </a:t>
            </a:r>
            <a:r>
              <a:rPr lang="en-US" sz="1800" dirty="0" err="1">
                <a:latin typeface="Times New Roman" panose="02020603050405020304" pitchFamily="18" charset="0"/>
                <a:cs typeface="Times New Roman" panose="02020603050405020304" pitchFamily="18" charset="0"/>
              </a:rPr>
              <a:t>ProductVersions</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ProductVersion</a:t>
            </a:r>
            <a:r>
              <a:rPr lang="en-US" sz="1800" dirty="0">
                <a:latin typeface="Times New Roman" panose="02020603050405020304" pitchFamily="18" charset="0"/>
                <a:cs typeface="Times New Roman" panose="02020603050405020304" pitchFamily="18" charset="0"/>
              </a:rPr>
              <a:t> 1:N </a:t>
            </a:r>
            <a:r>
              <a:rPr lang="en-US" sz="1800" dirty="0" err="1">
                <a:latin typeface="Times New Roman" panose="02020603050405020304" pitchFamily="18" charset="0"/>
                <a:cs typeface="Times New Roman" panose="02020603050405020304" pitchFamily="18" charset="0"/>
              </a:rPr>
              <a:t>ProductFiles</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Customer 1:N Orders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Order 1:N </a:t>
            </a:r>
            <a:r>
              <a:rPr lang="en-US" sz="1800" dirty="0" err="1">
                <a:latin typeface="Times New Roman" panose="02020603050405020304" pitchFamily="18" charset="0"/>
                <a:cs typeface="Times New Roman" panose="02020603050405020304" pitchFamily="18" charset="0"/>
              </a:rPr>
              <a:t>OrderItems</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Customer N:M Products through Entitlements</a:t>
            </a:r>
          </a:p>
          <a:p>
            <a:endParaRPr lang="en-US" dirty="0"/>
          </a:p>
        </p:txBody>
      </p:sp>
    </p:spTree>
    <p:extLst>
      <p:ext uri="{BB962C8B-B14F-4D97-AF65-F5344CB8AC3E}">
        <p14:creationId xmlns:p14="http://schemas.microsoft.com/office/powerpoint/2010/main" val="2916766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BC56C-7A76-D31A-1932-2270B31E65B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Flow Diagrams (DFD)</a:t>
            </a:r>
            <a:endParaRPr lang="en-US" dirty="0"/>
          </a:p>
        </p:txBody>
      </p:sp>
      <p:sp>
        <p:nvSpPr>
          <p:cNvPr id="3" name="Content Placeholder 2">
            <a:extLst>
              <a:ext uri="{FF2B5EF4-FFF2-40B4-BE49-F238E27FC236}">
                <a16:creationId xmlns:a16="http://schemas.microsoft.com/office/drawing/2014/main" id="{6A4DA618-1639-AE7D-3EFF-484B0C918385}"/>
              </a:ext>
            </a:extLst>
          </p:cNvPr>
          <p:cNvSpPr>
            <a:spLocks noGrp="1"/>
          </p:cNvSpPr>
          <p:nvPr>
            <p:ph idx="1"/>
          </p:nvPr>
        </p:nvSpPr>
        <p:spPr/>
        <p:txBody>
          <a:bodyPr/>
          <a:lstStyle/>
          <a:p>
            <a:r>
              <a:rPr lang="en-US" sz="1600" b="1" dirty="0">
                <a:latin typeface="Times New Roman" panose="02020603050405020304" pitchFamily="18" charset="0"/>
                <a:cs typeface="Times New Roman" panose="02020603050405020304" pitchFamily="18" charset="0"/>
              </a:rPr>
              <a:t>Level 0 DFD:</a:t>
            </a:r>
            <a:r>
              <a:rPr lang="en-US" sz="1600" dirty="0">
                <a:latin typeface="Times New Roman" panose="02020603050405020304" pitchFamily="18" charset="0"/>
                <a:cs typeface="Times New Roman" panose="02020603050405020304" pitchFamily="18" charset="0"/>
              </a:rPr>
              <a:t> Overall ProductForge system interacting with Creator, Customer, Admin, database, cloud storage, and payment services.</a:t>
            </a:r>
          </a:p>
          <a:p>
            <a:endParaRPr lang="en-US"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E364E7B-48C5-401E-0A10-976621827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981200"/>
            <a:ext cx="6858000" cy="4572000"/>
          </a:xfrm>
          <a:prstGeom prst="rect">
            <a:avLst/>
          </a:prstGeom>
        </p:spPr>
      </p:pic>
    </p:spTree>
    <p:extLst>
      <p:ext uri="{BB962C8B-B14F-4D97-AF65-F5344CB8AC3E}">
        <p14:creationId xmlns:p14="http://schemas.microsoft.com/office/powerpoint/2010/main" val="624747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58B1B-8174-93D2-19F8-164D06D6291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Flow Diagrams (DFD)</a:t>
            </a:r>
            <a:endParaRPr lang="en-US" dirty="0"/>
          </a:p>
        </p:txBody>
      </p:sp>
      <p:sp>
        <p:nvSpPr>
          <p:cNvPr id="3" name="Content Placeholder 2">
            <a:extLst>
              <a:ext uri="{FF2B5EF4-FFF2-40B4-BE49-F238E27FC236}">
                <a16:creationId xmlns:a16="http://schemas.microsoft.com/office/drawing/2014/main" id="{5BEB78FC-3FB0-D409-6ED6-76E7A9AC7EF3}"/>
              </a:ext>
            </a:extLst>
          </p:cNvPr>
          <p:cNvSpPr>
            <a:spLocks noGrp="1"/>
          </p:cNvSpPr>
          <p:nvPr>
            <p:ph idx="1"/>
          </p:nvPr>
        </p:nvSpPr>
        <p:spPr/>
        <p:txBody>
          <a:bodyPr/>
          <a:lstStyle/>
          <a:p>
            <a:r>
              <a:rPr lang="en-US" sz="1600" b="1" dirty="0">
                <a:latin typeface="Times New Roman" panose="02020603050405020304" pitchFamily="18" charset="0"/>
                <a:cs typeface="Times New Roman" panose="02020603050405020304" pitchFamily="18" charset="0"/>
              </a:rPr>
              <a:t>Level 1 DFD:</a:t>
            </a:r>
            <a:r>
              <a:rPr lang="en-US" sz="1600" dirty="0">
                <a:latin typeface="Times New Roman" panose="02020603050405020304" pitchFamily="18" charset="0"/>
                <a:cs typeface="Times New Roman" panose="02020603050405020304" pitchFamily="18" charset="0"/>
              </a:rPr>
              <a:t> Break ProductForge into processes such as Authentication, Product Management, Marketplace, Order &amp; Payment, Release Management, Entitlement, and Analytics.</a:t>
            </a:r>
          </a:p>
          <a:p>
            <a:endParaRPr lang="en-US"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99F6C94-408B-6740-0B38-E5D63C2061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1" y="1981200"/>
            <a:ext cx="5029200" cy="4591691"/>
          </a:xfrm>
          <a:prstGeom prst="rect">
            <a:avLst/>
          </a:prstGeom>
        </p:spPr>
      </p:pic>
    </p:spTree>
    <p:extLst>
      <p:ext uri="{BB962C8B-B14F-4D97-AF65-F5344CB8AC3E}">
        <p14:creationId xmlns:p14="http://schemas.microsoft.com/office/powerpoint/2010/main" val="1337141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944C8-B103-C1FC-7970-462DAFC2495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endParaRPr lang="en-US" dirty="0"/>
          </a:p>
        </p:txBody>
      </p:sp>
      <p:sp>
        <p:nvSpPr>
          <p:cNvPr id="3" name="Content Placeholder 2">
            <a:extLst>
              <a:ext uri="{FF2B5EF4-FFF2-40B4-BE49-F238E27FC236}">
                <a16:creationId xmlns:a16="http://schemas.microsoft.com/office/drawing/2014/main" id="{F121D650-40E4-B93A-C510-9A862AEE5B8F}"/>
              </a:ext>
            </a:extLst>
          </p:cNvPr>
          <p:cNvSpPr>
            <a:spLocks noGrp="1"/>
          </p:cNvSpPr>
          <p:nvPr>
            <p:ph idx="1"/>
          </p:nvPr>
        </p:nvSpPr>
        <p:spPr>
          <a:xfrm>
            <a:off x="457200" y="1374784"/>
            <a:ext cx="8229600" cy="4949816"/>
          </a:xfrm>
        </p:spPr>
        <p:txBody>
          <a:bodyPr/>
          <a:lstStyle/>
          <a:p>
            <a:r>
              <a:rPr lang="en-US" sz="1600" b="1" dirty="0">
                <a:latin typeface="Times New Roman" panose="02020603050405020304" pitchFamily="18" charset="0"/>
                <a:cs typeface="Times New Roman" panose="02020603050405020304" pitchFamily="18" charset="0"/>
              </a:rPr>
              <a:t>ProductForge</a:t>
            </a:r>
            <a:r>
              <a:rPr lang="en-US" sz="1600" dirty="0">
                <a:latin typeface="Times New Roman" panose="02020603050405020304" pitchFamily="18" charset="0"/>
                <a:cs typeface="Times New Roman" panose="02020603050405020304" pitchFamily="18" charset="0"/>
              </a:rPr>
              <a:t> is a cloud-based digital product marketplace and lifecycle management platform designed to bring the major stages of managing software-based digital products into a single system. The platform enables creators to create, publish, distribute, sell, update, and manage their products, while customers can discover products, purchase or subscribe to them, access eligible releases, receive updates, and provide feedback.</a:t>
            </a:r>
          </a:p>
          <a:p>
            <a:r>
              <a:rPr lang="en-US" sz="1600" dirty="0">
                <a:latin typeface="Times New Roman" panose="02020603050405020304" pitchFamily="18" charset="0"/>
                <a:cs typeface="Times New Roman" panose="02020603050405020304" pitchFamily="18" charset="0"/>
              </a:rPr>
              <a:t>Unlike a traditional digital marketplace focused mainly on product listing and transactions, ProductForge extends product management beyond the initial sale through version management, release history, customer access control, cloud-based file distribution, analytics, and lifecycle tracking. This creates a continuous connection between creators, their products, releases, and customers.</a:t>
            </a:r>
          </a:p>
          <a:p>
            <a:r>
              <a:rPr lang="en-US" sz="1600" dirty="0">
                <a:latin typeface="Times New Roman" panose="02020603050405020304" pitchFamily="18" charset="0"/>
                <a:cs typeface="Times New Roman" panose="02020603050405020304" pitchFamily="18" charset="0"/>
              </a:rPr>
              <a:t>The project demonstrates practical implementation of full-stack development, relational database design, REST APIs, authentication and authorization, cloud storage, payment integration, and real-time communication. Its modular architecture also allows additional capabilities to be introduced as the platform grows.</a:t>
            </a:r>
          </a:p>
          <a:p>
            <a:r>
              <a:rPr lang="en-US" sz="1600" dirty="0">
                <a:latin typeface="Times New Roman" panose="02020603050405020304" pitchFamily="18" charset="0"/>
                <a:cs typeface="Times New Roman" panose="02020603050405020304" pitchFamily="18" charset="0"/>
              </a:rPr>
              <a:t>Overall, ProductForge aims to provide a centralized, scalable, and efficient ecosystem for managing the complete journey of a digital product, from its initial publication and commercialization to future releases, customer management, growth, and eventual retirement.</a:t>
            </a:r>
          </a:p>
        </p:txBody>
      </p:sp>
    </p:spTree>
    <p:extLst>
      <p:ext uri="{BB962C8B-B14F-4D97-AF65-F5344CB8AC3E}">
        <p14:creationId xmlns:p14="http://schemas.microsoft.com/office/powerpoint/2010/main" val="1449717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2B35-F619-A6C4-D183-0905E3C84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FDD44-8165-80F9-FC40-5F12B7DB6C7A}"/>
              </a:ext>
            </a:extLst>
          </p:cNvPr>
          <p:cNvSpPr>
            <a:spLocks noGrp="1"/>
          </p:cNvSpPr>
          <p:nvPr>
            <p:ph type="title"/>
          </p:nvPr>
        </p:nvSpPr>
        <p:spPr/>
        <p:txBody>
          <a:bodyPr/>
          <a:lstStyle/>
          <a:p>
            <a:endParaRPr lang="en-IN"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B172C5-9053-2A04-F2AC-F10C8CBF3B56}"/>
              </a:ext>
            </a:extLst>
          </p:cNvPr>
          <p:cNvSpPr>
            <a:spLocks noGrp="1"/>
          </p:cNvSpPr>
          <p:nvPr>
            <p:ph idx="1"/>
          </p:nvPr>
        </p:nvSpPr>
        <p:spPr/>
        <p:txBody>
          <a:bodyPr/>
          <a:lstStyle/>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lgn="ctr">
              <a:buNone/>
            </a:pPr>
            <a:r>
              <a:rPr lang="en-IN"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959194150"/>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9AE925D5-DA43-4DD1-B6B6-8B467D16728C}" vid="{3EE72552-1DD1-4F59-AD60-F0ECC5712F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664</TotalTime>
  <Words>627</Words>
  <Application>Microsoft Office PowerPoint</Application>
  <PresentationFormat>On-screen Show (4:3)</PresentationFormat>
  <Paragraphs>102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Theme1</vt:lpstr>
      <vt:lpstr>PowerPoint Presentation</vt:lpstr>
      <vt:lpstr>Index</vt:lpstr>
      <vt:lpstr>Introduction</vt:lpstr>
      <vt:lpstr>Project Description</vt:lpstr>
      <vt:lpstr>System Architecture &amp; Design</vt:lpstr>
      <vt:lpstr>System Architecture &amp; Design</vt:lpstr>
      <vt:lpstr>Database Design</vt:lpstr>
      <vt:lpstr>Database Design</vt:lpstr>
      <vt:lpstr>Data Flow Diagrams (DFD)</vt:lpstr>
      <vt:lpstr>Data Flow Diagrams (DFD)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Piyush  Kumar</cp:lastModifiedBy>
  <cp:revision>157</cp:revision>
  <dcterms:created xsi:type="dcterms:W3CDTF">2024-07-10T18:26:37Z</dcterms:created>
  <dcterms:modified xsi:type="dcterms:W3CDTF">2026-07-28T11:37:22Z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2023-09-09T00:00:00Z</vt:filetime>
  </property>
  <property fmtid="{D5CDD505-2E9C-101B-9397-08002B2CF9AE}" pid="3" name="Creator">
    <vt:lpwstr>Microsoft® PowerPoint® 2013</vt:lpwstr>
  </property>
  <property fmtid="{D5CDD505-2E9C-101B-9397-08002B2CF9AE}" pid="4" name="LastSaved">
    <vt:filetime>2024-07-10T00:00:00Z</vt:filetime>
  </property>
</Properties>
</file>